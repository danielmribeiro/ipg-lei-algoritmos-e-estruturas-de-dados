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456" r:id="rId2"/>
    <p:sldId id="457" r:id="rId3"/>
    <p:sldId id="458" r:id="rId4"/>
    <p:sldId id="459" r:id="rId5"/>
    <p:sldId id="460" r:id="rId6"/>
    <p:sldId id="461" r:id="rId7"/>
    <p:sldId id="462" r:id="rId8"/>
  </p:sldIdLst>
  <p:sldSz cx="9144000" cy="6858000" type="screen4x3"/>
  <p:notesSz cx="6858000" cy="91440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6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99FFCC"/>
    <a:srgbClr val="66CCFF"/>
    <a:srgbClr val="FFFF66"/>
    <a:srgbClr val="00CC00"/>
    <a:srgbClr val="3399FF"/>
    <a:srgbClr val="99FF99"/>
    <a:srgbClr val="FFFFCC"/>
    <a:srgbClr val="33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4" autoAdjust="0"/>
    <p:restoredTop sz="98655" autoAdjust="0"/>
  </p:normalViewPr>
  <p:slideViewPr>
    <p:cSldViewPr snapToObjects="1">
      <p:cViewPr varScale="1">
        <p:scale>
          <a:sx n="104" d="100"/>
          <a:sy n="104" d="100"/>
        </p:scale>
        <p:origin x="1302" y="108"/>
      </p:cViewPr>
      <p:guideLst>
        <p:guide orient="horz" pos="2160"/>
        <p:guide pos="16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Objects="1">
      <p:cViewPr varScale="1">
        <p:scale>
          <a:sx n="63" d="100"/>
          <a:sy n="63" d="100"/>
        </p:scale>
        <p:origin x="-197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357563" y="32385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rebuchet MS" pitchFamily="34" charset="0"/>
              </a:defRPr>
            </a:lvl1pPr>
          </a:lstStyle>
          <a:p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49275" y="8459788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rebuchet MS" pitchFamily="34" charset="0"/>
              </a:defRPr>
            </a:lvl1pPr>
          </a:lstStyle>
          <a:p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357563" y="8459788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rebuchet MS" pitchFamily="34" charset="0"/>
              </a:defRPr>
            </a:lvl1pPr>
          </a:lstStyle>
          <a:p>
            <a:fld id="{33512BAA-8EAD-4C5D-9B5A-571C82659D9C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246" name="Picture 6" descr="Ubi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275" y="179388"/>
            <a:ext cx="1511300" cy="661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2934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746C5E29-0ED9-44F7-897D-1C27145F85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136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ipg.pt/user/~pnunes/" TargetMode="External"/><Relationship Id="rId4" Type="http://schemas.openxmlformats.org/officeDocument/2006/relationships/hyperlink" Target="mailto:pnunes@ipg.pt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3500439"/>
            <a:ext cx="8458200" cy="642943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kumimoji="0" lang="pt-PT" dirty="0" smtClean="0"/>
              <a:t>Clique para editar o estilo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4181480"/>
            <a:ext cx="8458200" cy="500067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PT" dirty="0" smtClean="0"/>
              <a:t>Faça clique para editar o estilo</a:t>
            </a:r>
            <a:endParaRPr kumimoji="0"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0" name="Picture 9" descr="C:\Users\Noel\Desktop\9001_2000_tif.t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88" y="5786455"/>
            <a:ext cx="973331" cy="94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3" name="Grupo 12"/>
          <p:cNvGrpSpPr/>
          <p:nvPr userDrawn="1"/>
        </p:nvGrpSpPr>
        <p:grpSpPr>
          <a:xfrm>
            <a:off x="112317" y="571481"/>
            <a:ext cx="4487895" cy="2789471"/>
            <a:chOff x="2328053" y="571480"/>
            <a:chExt cx="4487895" cy="2789471"/>
          </a:xfrm>
        </p:grpSpPr>
        <p:sp>
          <p:nvSpPr>
            <p:cNvPr id="12" name="CaixaDeTexto 11"/>
            <p:cNvSpPr txBox="1"/>
            <p:nvPr userDrawn="1"/>
          </p:nvSpPr>
          <p:spPr>
            <a:xfrm>
              <a:off x="2328053" y="2714620"/>
              <a:ext cx="44878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800" b="1" baseline="0" dirty="0" smtClean="0">
                  <a:latin typeface="Eurostile" pitchFamily="2" charset="0"/>
                </a:rPr>
                <a:t>Escola Superior de Tecnologia e Gestão</a:t>
              </a:r>
              <a:endParaRPr lang="pt-PT" sz="1800" b="1" dirty="0" smtClean="0">
                <a:latin typeface="Eurostile" pitchFamily="2" charset="0"/>
              </a:endParaRPr>
            </a:p>
            <a:p>
              <a:pPr algn="ctr"/>
              <a:r>
                <a:rPr lang="pt-PT" sz="1800" dirty="0" smtClean="0">
                  <a:latin typeface="Eurostile" pitchFamily="2" charset="0"/>
                </a:rPr>
                <a:t>Instituto Politécnico</a:t>
              </a:r>
              <a:r>
                <a:rPr lang="pt-PT" sz="1800" baseline="0" dirty="0" smtClean="0">
                  <a:latin typeface="Eurostile" pitchFamily="2" charset="0"/>
                </a:rPr>
                <a:t> da Guarda</a:t>
              </a:r>
            </a:p>
          </p:txBody>
        </p:sp>
        <p:pic>
          <p:nvPicPr>
            <p:cNvPr id="3074" name="Picture 2" descr="C:\Documents and Settings\pcardao\Ambiente de trabalho\Simb.tif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500430" y="571480"/>
              <a:ext cx="2143140" cy="2189155"/>
            </a:xfrm>
            <a:prstGeom prst="rect">
              <a:avLst/>
            </a:prstGeom>
            <a:noFill/>
          </p:spPr>
        </p:pic>
      </p:grpSp>
      <p:sp>
        <p:nvSpPr>
          <p:cNvPr id="20" name="Title 1"/>
          <p:cNvSpPr txBox="1">
            <a:spLocks/>
          </p:cNvSpPr>
          <p:nvPr userDrawn="1"/>
        </p:nvSpPr>
        <p:spPr>
          <a:xfrm>
            <a:off x="857226" y="4938353"/>
            <a:ext cx="4786313" cy="1500187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vert="horz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Paulo Nunes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Av. Dr. Francisco Sá Carneiro, 50 - 6301-559 Guarda</a:t>
            </a:r>
            <a:br>
              <a:rPr kumimoji="0" lang="pt-PT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pt-PT" sz="1000" b="0" i="0" u="none" strike="noStrike" kern="1200" cap="all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Telf</a:t>
            </a:r>
            <a:r>
              <a:rPr kumimoji="0" lang="pt-PT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271220161, </a:t>
            </a:r>
            <a:r>
              <a:rPr kumimoji="0" lang="pt-PT" sz="1000" b="0" i="0" u="none" strike="noStrike" kern="1200" cap="all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Ext</a:t>
            </a:r>
            <a:r>
              <a:rPr kumimoji="0" lang="pt-PT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161, Gab:20</a:t>
            </a:r>
            <a:br>
              <a:rPr kumimoji="0" lang="pt-PT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pt-PT" sz="7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GPS: </a:t>
            </a:r>
            <a:r>
              <a:rPr kumimoji="0" lang="en-US" sz="7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Latitude: 40.5416236730513,  Longitude: -7.28243350982666</a:t>
            </a:r>
            <a:r>
              <a:rPr kumimoji="0" lang="en-US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1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pt-PT" sz="900" b="0" i="0" u="none" strike="noStrike" kern="1200" cap="all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VoIP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pt-PT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mailto:pnunes@ipg.pt"/>
              </a:rPr>
              <a:t>pnunes@ipg.pt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Msn: </a:t>
            </a:r>
            <a:r>
              <a:rPr kumimoji="0" lang="pt-PT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mailto:pnunes@ipg.pt"/>
              </a:rPr>
              <a:t>pnunes@ipg.pt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pt-PT" sz="900" b="0" i="0" u="none" strike="noStrike" kern="1200" cap="all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Skype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pt-PT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pnunes.ipg.pt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Email: 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mailto:pnunes@ipg.pt"/>
              </a:rPr>
              <a:t>m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mailto:pnunes@ipg.pt"/>
              </a:rPr>
              <a:t>ailto:pnunes@ipg.pt</a:t>
            </a:r>
            <a:r>
              <a:rPr kumimoji="0" lang="pt-PT" sz="9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Web: 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5" tooltip="http://www.ipg.pt/user/~pnunes/"/>
              </a:rPr>
              <a:t>http://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5" tooltip="http://www.ipg.pt/user/~pnunes/"/>
              </a:rPr>
              <a:t>www.ipg.pt/user</a:t>
            </a:r>
            <a:r>
              <a:rPr kumimoji="0" lang="pt-PT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5" tooltip="http://www.ipg.pt/user/~pnunes/"/>
              </a:rPr>
              <a:t>/~pnunes/</a:t>
            </a:r>
            <a:endParaRPr kumimoji="0" lang="pt-PT" sz="2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 userDrawn="1"/>
        </p:nvSpPr>
        <p:spPr bwMode="auto">
          <a:xfrm>
            <a:off x="209550" y="416243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noProof="0" smtClean="0"/>
              <a:t>Clique para editar o estilo</a:t>
            </a:r>
            <a:endParaRPr kumimoji="0" lang="pt-PT" noProof="0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PT" noProof="0" smtClean="0"/>
              <a:t>Clique para editar os estilos</a:t>
            </a:r>
          </a:p>
          <a:p>
            <a:pPr lvl="1" eaLnBrk="1" latinLnBrk="0" hangingPunct="1"/>
            <a:r>
              <a:rPr lang="pt-PT" noProof="0" smtClean="0"/>
              <a:t>Segundo nível</a:t>
            </a:r>
          </a:p>
          <a:p>
            <a:pPr lvl="2" eaLnBrk="1" latinLnBrk="0" hangingPunct="1"/>
            <a:r>
              <a:rPr lang="pt-PT" noProof="0" smtClean="0"/>
              <a:t>Terceiro nível</a:t>
            </a:r>
          </a:p>
          <a:p>
            <a:pPr lvl="3" eaLnBrk="1" latinLnBrk="0" hangingPunct="1"/>
            <a:r>
              <a:rPr lang="pt-PT" noProof="0" smtClean="0"/>
              <a:t>Quarto nível</a:t>
            </a:r>
          </a:p>
          <a:p>
            <a:pPr lvl="4" eaLnBrk="1" latinLnBrk="0" hangingPunct="1"/>
            <a:r>
              <a:rPr lang="pt-PT" noProof="0" smtClean="0"/>
              <a:t>Quinto nível</a:t>
            </a:r>
            <a:endParaRPr kumimoji="0" lang="pt-PT" noProof="0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noProof="0" smtClean="0"/>
              <a:pPr/>
              <a:t>24-10-2013</a:t>
            </a:fld>
            <a:endParaRPr lang="pt-PT" noProof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1285852" y="6429396"/>
            <a:ext cx="2895600" cy="288925"/>
          </a:xfrm>
        </p:spPr>
        <p:txBody>
          <a:bodyPr/>
          <a:lstStyle/>
          <a:p>
            <a:endParaRPr lang="pt-PT" noProof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-32" y="6473952"/>
            <a:ext cx="758952" cy="246888"/>
          </a:xfrm>
        </p:spPr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3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6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pic>
        <p:nvPicPr>
          <p:cNvPr id="10" name="Picture 9" descr="C:\Users\Noel\Desktop\9001_2000_tif.t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88" y="5786455"/>
            <a:ext cx="973331" cy="94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357167"/>
            <a:ext cx="3714776" cy="1900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7127768" cy="841248"/>
          </a:xfrm>
        </p:spPr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9" name="Picture 8" descr="C:\Users\Noel\Desktop\9001_2000_tif.t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9654" y="6143646"/>
            <a:ext cx="616141" cy="5999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" name="Grupo 9"/>
          <p:cNvGrpSpPr/>
          <p:nvPr userDrawn="1"/>
        </p:nvGrpSpPr>
        <p:grpSpPr>
          <a:xfrm>
            <a:off x="6805223" y="142853"/>
            <a:ext cx="2343910" cy="1053283"/>
            <a:chOff x="6924324" y="45696"/>
            <a:chExt cx="2343911" cy="1053282"/>
          </a:xfrm>
        </p:grpSpPr>
        <p:pic>
          <p:nvPicPr>
            <p:cNvPr id="11" name="Imagem 1" descr="simbolo%20ipg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715277" y="45696"/>
              <a:ext cx="762000" cy="742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CaixaDeTexto 11"/>
            <p:cNvSpPr txBox="1"/>
            <p:nvPr userDrawn="1"/>
          </p:nvSpPr>
          <p:spPr>
            <a:xfrm>
              <a:off x="6924324" y="729646"/>
              <a:ext cx="23439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900" b="1" baseline="0" dirty="0" smtClean="0">
                  <a:latin typeface="Eurostile" pitchFamily="2" charset="0"/>
                </a:rPr>
                <a:t>Escola Superior de Tecnologia e Gestão</a:t>
              </a:r>
              <a:endParaRPr lang="pt-PT" sz="900" b="1" dirty="0" smtClean="0">
                <a:latin typeface="Eurostile" pitchFamily="2" charset="0"/>
              </a:endParaRPr>
            </a:p>
            <a:p>
              <a:pPr algn="ctr"/>
              <a:r>
                <a:rPr lang="pt-PT" sz="900" dirty="0" smtClean="0">
                  <a:latin typeface="Eurostile" pitchFamily="2" charset="0"/>
                </a:rPr>
                <a:t>Instituto Politécnico</a:t>
              </a:r>
              <a:r>
                <a:rPr lang="pt-PT" sz="900" baseline="0" dirty="0" smtClean="0">
                  <a:latin typeface="Eurostile" pitchFamily="2" charset="0"/>
                </a:rPr>
                <a:t> da Guarda</a:t>
              </a: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757642" y="616635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PT" smtClean="0"/>
              <a:t>Clique no ícone para adicionar uma imagem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1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pic>
        <p:nvPicPr>
          <p:cNvPr id="9" name="Picture 8" descr="C:\Users\Noel\Desktop\9001_2000_tif.t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88" y="5786455"/>
            <a:ext cx="973331" cy="94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4" y="785794"/>
            <a:ext cx="3500430" cy="1790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9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PT" dirty="0" smtClean="0"/>
              <a:t>Clique para editar os estilos</a:t>
            </a:r>
          </a:p>
          <a:p>
            <a:pPr lvl="1" eaLnBrk="1" latinLnBrk="0" hangingPunct="1"/>
            <a:r>
              <a:rPr kumimoji="0" lang="pt-PT" dirty="0" smtClean="0"/>
              <a:t>Segundo nível</a:t>
            </a:r>
          </a:p>
          <a:p>
            <a:pPr lvl="2" eaLnBrk="1" latinLnBrk="0" hangingPunct="1"/>
            <a:r>
              <a:rPr kumimoji="0" lang="pt-PT" dirty="0" smtClean="0"/>
              <a:t>Terceiro nível</a:t>
            </a:r>
          </a:p>
          <a:p>
            <a:pPr lvl="3" eaLnBrk="1" latinLnBrk="0" hangingPunct="1"/>
            <a:r>
              <a:rPr kumimoji="0" lang="pt-PT" dirty="0" smtClean="0"/>
              <a:t>Quarto nível</a:t>
            </a:r>
          </a:p>
          <a:p>
            <a:pPr lvl="4" eaLnBrk="1" latinLnBrk="0" hangingPunct="1"/>
            <a:r>
              <a:rPr kumimoji="0" lang="pt-PT" dirty="0" smtClean="0"/>
              <a:t>Quinto nível</a:t>
            </a:r>
            <a:endParaRPr kumimoji="0"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210024" y="643854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82AEB48-FEB6-4E4E-A39F-EE750F32096A}" type="datetimeFigureOut">
              <a:rPr lang="pt-PT" smtClean="0"/>
              <a:pPr/>
              <a:t>24-10-2013</a:t>
            </a:fld>
            <a:endParaRPr lang="pt-PT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857224" y="643854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-32" y="6477001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E6EDD40-70B4-488F-BC12-BC9114577641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6767530" cy="838200"/>
          </a:xfrm>
          <a:prstGeom prst="rect">
            <a:avLst/>
          </a:prstGeom>
          <a:effectLst/>
        </p:spPr>
        <p:txBody>
          <a:bodyPr vert="horz" anchor="ctr">
            <a:normAutofit/>
          </a:bodyPr>
          <a:lstStyle/>
          <a:p>
            <a:r>
              <a:rPr kumimoji="0" lang="pt-PT" dirty="0" smtClean="0"/>
              <a:t>Clique para editar o estilo</a:t>
            </a:r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9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pic>
        <p:nvPicPr>
          <p:cNvPr id="14" name="Picture 13" descr="C:\Users\Noel\Desktop\9001_2000_tif.ti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429654" y="6143646"/>
            <a:ext cx="616141" cy="5999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6" name="Picture 1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096159" y="71414"/>
            <a:ext cx="2047875" cy="104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" pitchFamily="2" charset="2"/>
        <a:buChar char="q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" pitchFamily="2" charset="2"/>
        <a:buChar char="q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" pitchFamily="2" charset="2"/>
        <a:buChar char="q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" pitchFamily="2" charset="2"/>
        <a:buChar char="q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" pitchFamily="2" charset="2"/>
        <a:buChar char="q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Line </a:t>
            </a:r>
            <a:r>
              <a:rPr lang="en-US" b="1" dirty="0" smtClean="0"/>
              <a:t>Equation / </a:t>
            </a:r>
            <a:r>
              <a:rPr lang="pt-PT" dirty="0" smtClean="0"/>
              <a:t> equação da reta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algn="r"/>
            <a:r>
              <a:rPr lang="pt-PT" dirty="0" smtClean="0"/>
              <a:t>2013/2014, </a:t>
            </a:r>
            <a:r>
              <a:rPr lang="pt-PT" dirty="0"/>
              <a:t>A1, </a:t>
            </a:r>
            <a:r>
              <a:rPr lang="pt-PT" dirty="0" smtClean="0"/>
              <a:t>S1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EDD40-70B4-488F-BC12-BC9114577641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25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Point-Slope Form of the Equation of a 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equation of a line with slope m and passing </a:t>
            </a:r>
            <a:r>
              <a:rPr lang="en-US" dirty="0" smtClean="0"/>
              <a:t>through the </a:t>
            </a:r>
            <a:r>
              <a:rPr lang="en-US" dirty="0"/>
              <a:t>point ( x1, y 1) is given by,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 - y 1 = </a:t>
            </a:r>
            <a:r>
              <a:rPr lang="en-US" b="1" dirty="0"/>
              <a:t>m</a:t>
            </a:r>
            <a:r>
              <a:rPr lang="en-US" dirty="0"/>
              <a:t> ( x - x1 )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b="1" dirty="0"/>
              <a:t>m</a:t>
            </a:r>
            <a:r>
              <a:rPr lang="en-US" dirty="0"/>
              <a:t> is the slope and ( x1, y 1) is the point given</a:t>
            </a:r>
          </a:p>
        </p:txBody>
      </p:sp>
    </p:spTree>
    <p:extLst>
      <p:ext uri="{BB962C8B-B14F-4D97-AF65-F5344CB8AC3E}">
        <p14:creationId xmlns:p14="http://schemas.microsoft.com/office/powerpoint/2010/main" val="299754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Slope-Intercept Form of the Equation of a 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equation of a line with slope m and</a:t>
            </a:r>
          </a:p>
          <a:p>
            <a:pPr marL="0" indent="0">
              <a:buNone/>
            </a:pPr>
            <a:r>
              <a:rPr lang="en-US" dirty="0"/>
              <a:t>y-intercept ( 0, b ) is given by,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 = mx +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m is the slope and ( 0, b ) is the y-intercept</a:t>
            </a:r>
          </a:p>
        </p:txBody>
      </p:sp>
    </p:spTree>
    <p:extLst>
      <p:ext uri="{BB962C8B-B14F-4D97-AF65-F5344CB8AC3E}">
        <p14:creationId xmlns:p14="http://schemas.microsoft.com/office/powerpoint/2010/main" val="15897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Problem 1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Find </a:t>
            </a:r>
            <a:r>
              <a:rPr lang="en-US" dirty="0"/>
              <a:t>the equation of the line that passes through the </a:t>
            </a:r>
            <a:r>
              <a:rPr lang="en-US" dirty="0" smtClean="0"/>
              <a:t>points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 -3, 4 ) and ( 1, 7 ).</a:t>
            </a:r>
          </a:p>
        </p:txBody>
      </p:sp>
    </p:spTree>
    <p:extLst>
      <p:ext uri="{BB962C8B-B14F-4D97-AF65-F5344CB8AC3E}">
        <p14:creationId xmlns:p14="http://schemas.microsoft.com/office/powerpoint/2010/main" val="61594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 1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first step is to determine the slope of the line. In order to determine the slope of the line, we must use the formula </a:t>
            </a:r>
          </a:p>
          <a:p>
            <a:pPr marL="0" indent="0">
              <a:buNone/>
            </a:pPr>
            <a:r>
              <a:rPr lang="en-US" dirty="0"/>
              <a:t>m = ( y2 - y1 ) / ( x2 - x1 ). This gives us,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	 m = ( y2 - y1 ) / ( x2 - x1 )</a:t>
            </a:r>
          </a:p>
          <a:p>
            <a:pPr marL="0" indent="0">
              <a:buNone/>
            </a:pPr>
            <a:r>
              <a:rPr lang="en-US" dirty="0"/>
              <a:t>  	 </a:t>
            </a:r>
            <a:r>
              <a:rPr lang="en-US" dirty="0" smtClean="0"/>
              <a:t>m </a:t>
            </a:r>
            <a:r>
              <a:rPr lang="en-US" dirty="0"/>
              <a:t>= ( 7 - 4 ) / ( 1 - ( -3 ) )</a:t>
            </a:r>
          </a:p>
          <a:p>
            <a:pPr marL="0" indent="0">
              <a:buNone/>
            </a:pPr>
            <a:r>
              <a:rPr lang="en-US" dirty="0"/>
              <a:t>  	 </a:t>
            </a:r>
            <a:r>
              <a:rPr lang="en-US" dirty="0" smtClean="0"/>
              <a:t>m </a:t>
            </a:r>
            <a:r>
              <a:rPr lang="en-US" dirty="0"/>
              <a:t>= ( 7 - 4 ) / ( 1 + 3 )</a:t>
            </a:r>
          </a:p>
          <a:p>
            <a:pPr marL="0" indent="0">
              <a:buNone/>
            </a:pPr>
            <a:r>
              <a:rPr lang="en-US" dirty="0"/>
              <a:t>  	 </a:t>
            </a:r>
            <a:r>
              <a:rPr lang="en-US" dirty="0" smtClean="0"/>
              <a:t>m </a:t>
            </a:r>
            <a:r>
              <a:rPr lang="en-US" dirty="0"/>
              <a:t>= 3/4</a:t>
            </a:r>
          </a:p>
        </p:txBody>
      </p:sp>
    </p:spTree>
    <p:extLst>
      <p:ext uri="{BB962C8B-B14F-4D97-AF65-F5344CB8AC3E}">
        <p14:creationId xmlns:p14="http://schemas.microsoft.com/office/powerpoint/2010/main" val="425104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PT" dirty="0" smtClean="0">
                    <a:solidFill>
                      <a:srgbClr val="00000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Utilizando coordenas retangulares um ponto representado por</a:t>
                </a:r>
                <a14:m>
                  <m:oMath xmlns:m="http://schemas.openxmlformats.org/officeDocument/2006/math"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 O número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chamado abscissa desse ponto, e o número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a sua ordenada. O número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mede a distância do ponto P ao eixo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 o número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mede a distância do ponto P ao eixo </a:t>
                </a:r>
                <a:r>
                  <a:rPr lang="pt-PT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PT" sz="4000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pt-PT" sz="4000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equação reduzida da reta é dada pela equação:</a:t>
                </a:r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pt-PT" dirty="0" smtClean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14" t="-2022" r="-1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54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PT" dirty="0" smtClean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valor de </a:t>
                </a:r>
                <a:r>
                  <a:rPr lang="pt-PT" b="1" i="1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o declive (coeficiente angular de uma reta) da</a:t>
                </a:r>
                <a:r>
                  <a:rPr lang="pt-PT" sz="36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reta e </a:t>
                </a:r>
                <a:r>
                  <a:rPr lang="pt-PT" sz="3600" b="1" i="1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pt-PT" sz="36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(coeficiente linear de uma reta) é a ordenada (altura) </a:t>
                </a:r>
                <a:r>
                  <a:rPr lang="pt-PT" b="1" i="1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 ponto </a:t>
                </a:r>
                <a14:m>
                  <m:oMath xmlns:m="http://schemas.openxmlformats.org/officeDocument/2006/math"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0, </m:t>
                        </m:r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ou seja, o ponto de intersecção com o eixo y para a abscissa zero. O declive da reta que passa por dois pontos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é calculado por:</a:t>
                </a:r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PT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valor de b pode ser calculado por: </a:t>
                </a:r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pt-PT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PT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04" t="-809" r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480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loDiapositivos2007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_Ficheiros_Reservado_RH_template_apresentacao_ubi</Template>
  <TotalTime>11776</TotalTime>
  <Words>234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Cambria</vt:lpstr>
      <vt:lpstr>Cambria Math</vt:lpstr>
      <vt:lpstr>Eurostile</vt:lpstr>
      <vt:lpstr>Franklin Gothic Book</vt:lpstr>
      <vt:lpstr>Franklin Gothic Medium</vt:lpstr>
      <vt:lpstr>Times New Roman</vt:lpstr>
      <vt:lpstr>Trebuchet MS</vt:lpstr>
      <vt:lpstr>Wingdings</vt:lpstr>
      <vt:lpstr>Wingdings 2</vt:lpstr>
      <vt:lpstr>ModeloDiapositivos2007</vt:lpstr>
      <vt:lpstr>Line Equation /  equação da reta</vt:lpstr>
      <vt:lpstr>The Point-Slope Form of the Equation of a Line </vt:lpstr>
      <vt:lpstr>The Slope-Intercept Form of the Equation of a Line </vt:lpstr>
      <vt:lpstr>Example Problem 1 </vt:lpstr>
      <vt:lpstr>Solution 1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pnunes</dc:creator>
  <cp:lastModifiedBy>pnunes</cp:lastModifiedBy>
  <cp:revision>1152</cp:revision>
  <dcterms:created xsi:type="dcterms:W3CDTF">2009-02-04T15:37:43Z</dcterms:created>
  <dcterms:modified xsi:type="dcterms:W3CDTF">2013-10-24T19:41:05Z</dcterms:modified>
</cp:coreProperties>
</file>