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233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937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522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1533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776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869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3705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820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739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05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10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8E792-4503-4DCB-80A9-FDE78B888346}" type="datetimeFigureOut">
              <a:rPr lang="pt-PT" smtClean="0"/>
              <a:t>10/10/2016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2DAA3-3971-4C4E-BD50-400FDCAEFA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369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smtClean="0"/>
              <a:t>Paulo Nunes,  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 smtClean="0"/>
              <a:t>Multiplicação de frações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2284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Sumário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smtClean="0"/>
              <a:t>Enunciado</a:t>
            </a:r>
          </a:p>
          <a:p>
            <a:r>
              <a:rPr lang="pt-PT" dirty="0" smtClean="0"/>
              <a:t>Definição do problema</a:t>
            </a:r>
          </a:p>
          <a:p>
            <a:r>
              <a:rPr lang="pt-PT" dirty="0" smtClean="0"/>
              <a:t>Modelo</a:t>
            </a:r>
          </a:p>
          <a:p>
            <a:r>
              <a:rPr lang="pt-PT" dirty="0" smtClean="0"/>
              <a:t>Casos</a:t>
            </a:r>
          </a:p>
          <a:p>
            <a:r>
              <a:rPr lang="pt-PT" dirty="0" smtClean="0"/>
              <a:t>Esboço</a:t>
            </a:r>
          </a:p>
          <a:p>
            <a:r>
              <a:rPr lang="pt-PT" dirty="0" smtClean="0"/>
              <a:t>Algoritmo</a:t>
            </a:r>
          </a:p>
          <a:p>
            <a:r>
              <a:rPr lang="pt-PT" dirty="0" err="1" smtClean="0"/>
              <a:t>Traçagem</a:t>
            </a:r>
            <a:endParaRPr lang="pt-PT" dirty="0" smtClean="0"/>
          </a:p>
          <a:p>
            <a:r>
              <a:rPr lang="pt-PT" dirty="0" err="1" smtClean="0"/>
              <a:t>Conslusões</a:t>
            </a:r>
            <a:endParaRPr lang="pt-PT" dirty="0" smtClean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4349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Enunciado</a:t>
            </a:r>
            <a:endParaRPr lang="pt-PT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80" y="1690688"/>
            <a:ext cx="8895694" cy="455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1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Definição do problema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smtClean="0"/>
              <a:t>Elabore um algoritmo quer permita multiplicar duas frações.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509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Modelo</a:t>
            </a:r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/>
              <p:cNvSpPr txBox="1"/>
              <p:nvPr/>
            </p:nvSpPr>
            <p:spPr>
              <a:xfrm>
                <a:off x="6606540" y="4329871"/>
                <a:ext cx="4974183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pt-PT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PT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32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pt-PT" sz="3200" b="0" i="1" smtClean="0">
                          <a:latin typeface="Cambria Math" panose="02040503050406030204" pitchFamily="18" charset="0"/>
                        </a:rPr>
                        <m:t> ×</m:t>
                      </m:r>
                      <m:f>
                        <m:fPr>
                          <m:ctrlPr>
                            <a:rPr lang="pt-PT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P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PT" sz="3200" dirty="0"/>
              </a:p>
            </p:txBody>
          </p:sp>
        </mc:Choice>
        <mc:Fallback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540" y="4329871"/>
                <a:ext cx="4974183" cy="92519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/>
          <p:cNvSpPr txBox="1"/>
          <p:nvPr/>
        </p:nvSpPr>
        <p:spPr>
          <a:xfrm>
            <a:off x="496162" y="1498947"/>
            <a:ext cx="935903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 smtClean="0"/>
              <a:t>n – numerador do produto das frações  (real ) </a:t>
            </a:r>
          </a:p>
          <a:p>
            <a:r>
              <a:rPr lang="pt-PT" sz="3200" dirty="0" smtClean="0"/>
              <a:t>d – denominador do produto das frações (≠ 0)</a:t>
            </a:r>
          </a:p>
          <a:p>
            <a:r>
              <a:rPr lang="pt-PT" sz="3200" dirty="0" smtClean="0"/>
              <a:t>n1 ..</a:t>
            </a:r>
          </a:p>
          <a:p>
            <a:r>
              <a:rPr lang="pt-PT" sz="3200" dirty="0" smtClean="0"/>
              <a:t>n2 …</a:t>
            </a:r>
          </a:p>
          <a:p>
            <a:r>
              <a:rPr lang="pt-PT" sz="3200" dirty="0" smtClean="0"/>
              <a:t>d1</a:t>
            </a:r>
            <a:endParaRPr lang="pt-PT" sz="3200" dirty="0" smtClean="0"/>
          </a:p>
          <a:p>
            <a:r>
              <a:rPr lang="pt-PT" sz="3200" dirty="0" smtClean="0"/>
              <a:t>d2</a:t>
            </a:r>
          </a:p>
          <a:p>
            <a:endParaRPr lang="pt-PT" sz="3200" dirty="0" smtClean="0"/>
          </a:p>
          <a:p>
            <a:endParaRPr lang="pt-PT" sz="32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673963" y="5038377"/>
            <a:ext cx="3072537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PT" sz="3200" dirty="0" smtClean="0"/>
              <a:t>n = n1 x n2</a:t>
            </a:r>
          </a:p>
          <a:p>
            <a:r>
              <a:rPr lang="pt-PT" sz="3200" dirty="0" smtClean="0"/>
              <a:t>d = d1 x d2</a:t>
            </a:r>
            <a:endParaRPr lang="pt-PT" sz="3200" dirty="0"/>
          </a:p>
        </p:txBody>
      </p:sp>
    </p:spTree>
    <p:extLst>
      <p:ext uri="{BB962C8B-B14F-4D97-AF65-F5344CB8AC3E}">
        <p14:creationId xmlns:p14="http://schemas.microsoft.com/office/powerpoint/2010/main" val="121533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Caso I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200" y="1804512"/>
            <a:ext cx="3517900" cy="4351338"/>
          </a:xfrm>
        </p:spPr>
        <p:txBody>
          <a:bodyPr/>
          <a:lstStyle/>
          <a:p>
            <a:r>
              <a:rPr lang="pt-PT" dirty="0" smtClean="0"/>
              <a:t>n1 = 10</a:t>
            </a:r>
          </a:p>
          <a:p>
            <a:r>
              <a:rPr lang="pt-PT" dirty="0" smtClean="0"/>
              <a:t>d1 = 3</a:t>
            </a:r>
          </a:p>
          <a:p>
            <a:r>
              <a:rPr lang="pt-PT" dirty="0" smtClean="0"/>
              <a:t>n2 = 2</a:t>
            </a:r>
          </a:p>
          <a:p>
            <a:r>
              <a:rPr lang="pt-PT" dirty="0" smtClean="0"/>
              <a:t>d2 = 5</a:t>
            </a:r>
          </a:p>
          <a:p>
            <a:endParaRPr lang="pt-PT" dirty="0"/>
          </a:p>
          <a:p>
            <a:r>
              <a:rPr lang="pt-PT" dirty="0" smtClean="0"/>
              <a:t>n ?</a:t>
            </a:r>
          </a:p>
          <a:p>
            <a:r>
              <a:rPr lang="pt-PT" dirty="0" smtClean="0"/>
              <a:t>d ?</a:t>
            </a:r>
          </a:p>
          <a:p>
            <a:endParaRPr lang="pt-PT" dirty="0" smtClean="0"/>
          </a:p>
          <a:p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tângulo 3"/>
              <p:cNvSpPr/>
              <p:nvPr/>
            </p:nvSpPr>
            <p:spPr>
              <a:xfrm>
                <a:off x="3918129" y="2731378"/>
                <a:ext cx="1858586" cy="1248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pt-PT" sz="4000" dirty="0"/>
              </a:p>
            </p:txBody>
          </p:sp>
        </mc:Choice>
        <mc:Fallback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129" y="2731378"/>
                <a:ext cx="1858586" cy="124880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6007100" y="2340116"/>
            <a:ext cx="1239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0" dirty="0" smtClean="0"/>
              <a:t>?</a:t>
            </a:r>
            <a:endParaRPr lang="pt-PT" sz="6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tângulo 5"/>
              <p:cNvSpPr/>
              <p:nvPr/>
            </p:nvSpPr>
            <p:spPr>
              <a:xfrm>
                <a:off x="6007100" y="4202134"/>
                <a:ext cx="3094117" cy="1248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×2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3×5</m:t>
                          </m:r>
                        </m:den>
                      </m:f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pt-PT" sz="4000" dirty="0"/>
              </a:p>
            </p:txBody>
          </p:sp>
        </mc:Choice>
        <mc:Fallback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100" y="4202134"/>
                <a:ext cx="3094117" cy="124880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ângulo 6"/>
              <p:cNvSpPr/>
              <p:nvPr/>
            </p:nvSpPr>
            <p:spPr>
              <a:xfrm>
                <a:off x="8856644" y="1482575"/>
                <a:ext cx="2055756" cy="1248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PT" sz="4000" dirty="0"/>
              </a:p>
            </p:txBody>
          </p:sp>
        </mc:Choice>
        <mc:Fallback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644" y="1482575"/>
                <a:ext cx="2055756" cy="124880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97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Caso II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200" y="1804512"/>
            <a:ext cx="3517900" cy="4351338"/>
          </a:xfrm>
        </p:spPr>
        <p:txBody>
          <a:bodyPr/>
          <a:lstStyle/>
          <a:p>
            <a:r>
              <a:rPr lang="pt-PT" dirty="0" smtClean="0"/>
              <a:t>n1 = -10</a:t>
            </a:r>
          </a:p>
          <a:p>
            <a:r>
              <a:rPr lang="pt-PT" dirty="0" smtClean="0"/>
              <a:t>d1 = 3</a:t>
            </a:r>
          </a:p>
          <a:p>
            <a:r>
              <a:rPr lang="pt-PT" dirty="0" smtClean="0"/>
              <a:t>n2 = 2</a:t>
            </a:r>
          </a:p>
          <a:p>
            <a:r>
              <a:rPr lang="pt-PT" dirty="0" smtClean="0"/>
              <a:t>d2 = 5</a:t>
            </a:r>
          </a:p>
          <a:p>
            <a:endParaRPr lang="pt-PT" dirty="0"/>
          </a:p>
          <a:p>
            <a:r>
              <a:rPr lang="pt-PT" dirty="0" smtClean="0"/>
              <a:t>n ?</a:t>
            </a:r>
          </a:p>
          <a:p>
            <a:r>
              <a:rPr lang="pt-PT" dirty="0" smtClean="0"/>
              <a:t>d ?</a:t>
            </a:r>
          </a:p>
          <a:p>
            <a:endParaRPr lang="pt-PT" dirty="0" smtClean="0"/>
          </a:p>
          <a:p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tângulo 3"/>
              <p:cNvSpPr/>
              <p:nvPr/>
            </p:nvSpPr>
            <p:spPr>
              <a:xfrm>
                <a:off x="3918129" y="2731378"/>
                <a:ext cx="1858586" cy="1248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pt-PT" sz="4000" dirty="0"/>
              </a:p>
            </p:txBody>
          </p:sp>
        </mc:Choice>
        <mc:Fallback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129" y="2731378"/>
                <a:ext cx="1858586" cy="124880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6007100" y="2340116"/>
            <a:ext cx="1239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0" dirty="0" smtClean="0"/>
              <a:t>?</a:t>
            </a:r>
            <a:endParaRPr lang="pt-PT" sz="6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tângulo 5"/>
              <p:cNvSpPr/>
              <p:nvPr/>
            </p:nvSpPr>
            <p:spPr>
              <a:xfrm>
                <a:off x="6007100" y="4202134"/>
                <a:ext cx="3094117" cy="1248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×2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3×5</m:t>
                          </m:r>
                        </m:den>
                      </m:f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pt-PT" sz="4000" dirty="0"/>
              </a:p>
            </p:txBody>
          </p:sp>
        </mc:Choice>
        <mc:Fallback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100" y="4202134"/>
                <a:ext cx="3094117" cy="124880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ângulo 6"/>
              <p:cNvSpPr/>
              <p:nvPr/>
            </p:nvSpPr>
            <p:spPr>
              <a:xfrm>
                <a:off x="8856644" y="1482575"/>
                <a:ext cx="2055756" cy="1248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PT" sz="4000" dirty="0"/>
              </a:p>
            </p:txBody>
          </p:sp>
        </mc:Choice>
        <mc:Fallback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644" y="1482575"/>
                <a:ext cx="2055756" cy="124880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41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Caso III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200" y="1804512"/>
            <a:ext cx="3517900" cy="4351338"/>
          </a:xfrm>
        </p:spPr>
        <p:txBody>
          <a:bodyPr/>
          <a:lstStyle/>
          <a:p>
            <a:r>
              <a:rPr lang="pt-PT" dirty="0" smtClean="0"/>
              <a:t>n1 = 10</a:t>
            </a:r>
          </a:p>
          <a:p>
            <a:r>
              <a:rPr lang="pt-PT" dirty="0" smtClean="0"/>
              <a:t>d1 = 3</a:t>
            </a:r>
          </a:p>
          <a:p>
            <a:r>
              <a:rPr lang="pt-PT" dirty="0" smtClean="0"/>
              <a:t>n2 = 3</a:t>
            </a:r>
          </a:p>
          <a:p>
            <a:r>
              <a:rPr lang="pt-PT" dirty="0" smtClean="0"/>
              <a:t>d2 = 5</a:t>
            </a:r>
          </a:p>
          <a:p>
            <a:endParaRPr lang="pt-PT" dirty="0"/>
          </a:p>
          <a:p>
            <a:r>
              <a:rPr lang="pt-PT" dirty="0" smtClean="0"/>
              <a:t>n ?</a:t>
            </a:r>
          </a:p>
          <a:p>
            <a:r>
              <a:rPr lang="pt-PT" dirty="0" smtClean="0"/>
              <a:t>d ?</a:t>
            </a:r>
          </a:p>
          <a:p>
            <a:endParaRPr lang="pt-PT" dirty="0" smtClean="0"/>
          </a:p>
          <a:p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tângulo 3"/>
              <p:cNvSpPr/>
              <p:nvPr/>
            </p:nvSpPr>
            <p:spPr>
              <a:xfrm>
                <a:off x="3918129" y="2731378"/>
                <a:ext cx="1858586" cy="1248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pt-PT" sz="4000" dirty="0"/>
              </a:p>
            </p:txBody>
          </p:sp>
        </mc:Choice>
        <mc:Fallback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129" y="2731378"/>
                <a:ext cx="1858586" cy="124880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6007100" y="2340116"/>
            <a:ext cx="1239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0" dirty="0" smtClean="0"/>
              <a:t>?</a:t>
            </a:r>
            <a:endParaRPr lang="pt-PT" sz="6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tângulo 5"/>
              <p:cNvSpPr/>
              <p:nvPr/>
            </p:nvSpPr>
            <p:spPr>
              <a:xfrm>
                <a:off x="6007100" y="4202134"/>
                <a:ext cx="3094117" cy="1248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×2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3×5</m:t>
                          </m:r>
                        </m:den>
                      </m:f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pt-PT" sz="4000" dirty="0"/>
              </a:p>
            </p:txBody>
          </p:sp>
        </mc:Choice>
        <mc:Fallback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100" y="4202134"/>
                <a:ext cx="3094117" cy="124880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ângulo 6"/>
              <p:cNvSpPr/>
              <p:nvPr/>
            </p:nvSpPr>
            <p:spPr>
              <a:xfrm>
                <a:off x="8856644" y="1482575"/>
                <a:ext cx="2055756" cy="1248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PT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PT" sz="4000" dirty="0"/>
              </a:p>
            </p:txBody>
          </p:sp>
        </mc:Choice>
        <mc:Fallback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644" y="1482575"/>
                <a:ext cx="2055756" cy="124880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81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Esboço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PT" sz="3600" dirty="0" smtClean="0"/>
              <a:t>Início:</a:t>
            </a:r>
          </a:p>
          <a:p>
            <a:pPr marL="0" indent="0">
              <a:buNone/>
            </a:pPr>
            <a:r>
              <a:rPr lang="pt-PT" sz="3600" dirty="0"/>
              <a:t>	</a:t>
            </a:r>
            <a:r>
              <a:rPr lang="pt-PT" sz="3600" dirty="0" smtClean="0"/>
              <a:t>LER n1, d1</a:t>
            </a:r>
          </a:p>
          <a:p>
            <a:pPr marL="0" indent="0">
              <a:buNone/>
            </a:pPr>
            <a:r>
              <a:rPr lang="pt-PT" sz="3600" dirty="0" smtClean="0"/>
              <a:t>	LER n2, d2</a:t>
            </a:r>
          </a:p>
          <a:p>
            <a:pPr marL="0" indent="0">
              <a:buNone/>
            </a:pPr>
            <a:r>
              <a:rPr lang="pt-PT" sz="3600" dirty="0" smtClean="0"/>
              <a:t>	</a:t>
            </a:r>
            <a:r>
              <a:rPr lang="pt-PT" sz="3600" dirty="0" smtClean="0">
                <a:solidFill>
                  <a:srgbClr val="00B050"/>
                </a:solidFill>
              </a:rPr>
              <a:t>n = n1 x n2</a:t>
            </a:r>
          </a:p>
          <a:p>
            <a:pPr marL="0" indent="0">
              <a:buNone/>
            </a:pPr>
            <a:r>
              <a:rPr lang="pt-PT" sz="3600" dirty="0" smtClean="0">
                <a:solidFill>
                  <a:srgbClr val="00B050"/>
                </a:solidFill>
              </a:rPr>
              <a:t>	d = d1 x d2</a:t>
            </a:r>
          </a:p>
          <a:p>
            <a:pPr marL="0" indent="0">
              <a:buNone/>
            </a:pPr>
            <a:r>
              <a:rPr lang="pt-PT" sz="3600" dirty="0" smtClean="0"/>
              <a:t>	ESCREVER n</a:t>
            </a:r>
          </a:p>
          <a:p>
            <a:pPr marL="0" indent="0">
              <a:buNone/>
            </a:pPr>
            <a:r>
              <a:rPr lang="pt-PT" sz="3600" dirty="0" smtClean="0"/>
              <a:t>	ESCREVER D</a:t>
            </a:r>
          </a:p>
          <a:p>
            <a:pPr marL="0" indent="0">
              <a:buNone/>
            </a:pPr>
            <a:r>
              <a:rPr lang="pt-PT" sz="3600" dirty="0" smtClean="0"/>
              <a:t>FIM.</a:t>
            </a:r>
          </a:p>
          <a:p>
            <a:pPr marL="0" indent="0">
              <a:buNone/>
            </a:pPr>
            <a:endParaRPr lang="pt-PT" sz="3600" dirty="0" smtClean="0"/>
          </a:p>
          <a:p>
            <a:pPr marL="0" indent="0">
              <a:buNone/>
            </a:pPr>
            <a:endParaRPr lang="pt-PT" sz="3600" dirty="0" smtClean="0"/>
          </a:p>
          <a:p>
            <a:endParaRPr lang="pt-PT" sz="4400" dirty="0" smtClean="0"/>
          </a:p>
          <a:p>
            <a:endParaRPr lang="pt-PT" sz="4400" dirty="0"/>
          </a:p>
        </p:txBody>
      </p:sp>
    </p:spTree>
    <p:extLst>
      <p:ext uri="{BB962C8B-B14F-4D97-AF65-F5344CB8AC3E}">
        <p14:creationId xmlns:p14="http://schemas.microsoft.com/office/powerpoint/2010/main" val="93370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Algoritmo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PT" sz="2000" dirty="0" smtClean="0"/>
              <a:t>Algoritmo: </a:t>
            </a:r>
            <a:r>
              <a:rPr lang="pt-PT" sz="2000" dirty="0" err="1" smtClean="0"/>
              <a:t>ProdutoFracoes</a:t>
            </a:r>
            <a:endParaRPr lang="pt-PT" sz="2000" dirty="0" smtClean="0"/>
          </a:p>
          <a:p>
            <a:pPr marL="0" indent="0">
              <a:buNone/>
            </a:pPr>
            <a:r>
              <a:rPr lang="pt-PT" sz="2000" dirty="0" smtClean="0"/>
              <a:t>Objetivo: Permite </a:t>
            </a:r>
            <a:r>
              <a:rPr lang="pt-PT" sz="1600" dirty="0" smtClean="0"/>
              <a:t>multiplicar duas frações.</a:t>
            </a:r>
          </a:p>
          <a:p>
            <a:pPr marL="0" indent="0">
              <a:buNone/>
            </a:pPr>
            <a:r>
              <a:rPr lang="pt-PT" sz="1600" dirty="0" smtClean="0"/>
              <a:t>Variáveis:</a:t>
            </a:r>
          </a:p>
          <a:p>
            <a:pPr marL="0" indent="0">
              <a:buNone/>
            </a:pPr>
            <a:r>
              <a:rPr lang="pt-PT" sz="1600" dirty="0" smtClean="0"/>
              <a:t>  Entrada:</a:t>
            </a:r>
          </a:p>
          <a:p>
            <a:pPr marL="457200" lvl="1" indent="0">
              <a:buNone/>
            </a:pPr>
            <a:r>
              <a:rPr lang="pt-PT" sz="1200" dirty="0" smtClean="0"/>
              <a:t>n1 (INTEIRO T3) – Numerador da primeira fração (&gt;=-999, &lt;=999)</a:t>
            </a:r>
          </a:p>
          <a:p>
            <a:pPr marL="457200" lvl="1" indent="0">
              <a:buNone/>
            </a:pPr>
            <a:r>
              <a:rPr lang="pt-PT" sz="1200" dirty="0" smtClean="0"/>
              <a:t>n2 … </a:t>
            </a:r>
          </a:p>
          <a:p>
            <a:pPr marL="457200" lvl="1" indent="0">
              <a:buNone/>
            </a:pPr>
            <a:r>
              <a:rPr lang="pt-PT" sz="1200" dirty="0" smtClean="0"/>
              <a:t>D1    - …. (≠ 0)</a:t>
            </a:r>
          </a:p>
          <a:p>
            <a:pPr marL="457200" lvl="1" indent="0">
              <a:buNone/>
            </a:pPr>
            <a:r>
              <a:rPr lang="pt-PT" sz="1200" dirty="0" smtClean="0"/>
              <a:t>D2      (≠ 0)</a:t>
            </a:r>
          </a:p>
          <a:p>
            <a:pPr marL="0" indent="0">
              <a:buNone/>
            </a:pPr>
            <a:r>
              <a:rPr lang="pt-PT" sz="1600" dirty="0" smtClean="0"/>
              <a:t>Saída</a:t>
            </a:r>
          </a:p>
          <a:p>
            <a:pPr marL="457200" lvl="1" indent="0">
              <a:buNone/>
            </a:pPr>
            <a:r>
              <a:rPr lang="pt-PT" sz="1200" dirty="0" smtClean="0"/>
              <a:t>n (INTEIRO T6) – numerador do produto das frações  (real ) </a:t>
            </a:r>
          </a:p>
          <a:p>
            <a:pPr marL="457200" lvl="1" indent="0">
              <a:buNone/>
            </a:pPr>
            <a:r>
              <a:rPr lang="pt-PT" sz="1200" dirty="0" smtClean="0"/>
              <a:t>d – denominador do produto das frações (≠ 0)</a:t>
            </a:r>
          </a:p>
          <a:p>
            <a:pPr marL="0" indent="0">
              <a:buNone/>
            </a:pPr>
            <a:r>
              <a:rPr lang="pt-PT" sz="1600" dirty="0" smtClean="0"/>
              <a:t>Autor: Paulo nunes</a:t>
            </a:r>
          </a:p>
          <a:p>
            <a:pPr marL="0" indent="0">
              <a:buNone/>
            </a:pPr>
            <a:r>
              <a:rPr lang="pt-PT" sz="1600" dirty="0" smtClean="0"/>
              <a:t>Versão: 1.0</a:t>
            </a:r>
          </a:p>
          <a:p>
            <a:pPr marL="0" indent="0">
              <a:buNone/>
            </a:pPr>
            <a:r>
              <a:rPr lang="pt-PT" sz="1600" dirty="0" smtClean="0"/>
              <a:t>Data: 2016-10-10</a:t>
            </a:r>
          </a:p>
          <a:p>
            <a:pPr marL="0" indent="0">
              <a:buNone/>
            </a:pPr>
            <a:r>
              <a:rPr lang="pt-PT" sz="1600" dirty="0" err="1" smtClean="0"/>
              <a:t>Obs</a:t>
            </a:r>
            <a:r>
              <a:rPr lang="pt-PT" sz="1600" dirty="0" smtClean="0"/>
              <a:t>: Realizado nas aulas</a:t>
            </a:r>
          </a:p>
          <a:p>
            <a:pPr marL="0" indent="0">
              <a:buNone/>
            </a:pPr>
            <a:r>
              <a:rPr lang="pt-PT" sz="2000" dirty="0" smtClean="0"/>
              <a:t>Início:</a:t>
            </a:r>
          </a:p>
          <a:p>
            <a:pPr marL="0" indent="0">
              <a:buNone/>
            </a:pPr>
            <a:r>
              <a:rPr lang="pt-PT" sz="2000" dirty="0" smtClean="0"/>
              <a:t>  FAZER  </a:t>
            </a:r>
          </a:p>
          <a:p>
            <a:pPr marL="0" indent="0">
              <a:buNone/>
            </a:pPr>
            <a:r>
              <a:rPr lang="pt-PT" sz="2000" dirty="0" smtClean="0"/>
              <a:t>       ESCREVER “</a:t>
            </a:r>
            <a:r>
              <a:rPr lang="pt-PT" sz="2000" dirty="0" smtClean="0"/>
              <a:t>Numerador da primeira fração ?”</a:t>
            </a:r>
            <a:r>
              <a:rPr lang="pt-PT" sz="2000" dirty="0" smtClean="0"/>
              <a:t>	      </a:t>
            </a:r>
          </a:p>
          <a:p>
            <a:pPr marL="0" indent="0">
              <a:buNone/>
            </a:pPr>
            <a:r>
              <a:rPr lang="pt-PT" sz="2000" dirty="0" smtClean="0"/>
              <a:t>        </a:t>
            </a:r>
            <a:r>
              <a:rPr lang="pt-PT" sz="2000" dirty="0" smtClean="0">
                <a:solidFill>
                  <a:srgbClr val="00B050"/>
                </a:solidFill>
              </a:rPr>
              <a:t>LER n1</a:t>
            </a:r>
          </a:p>
          <a:p>
            <a:pPr marL="0" indent="0">
              <a:buNone/>
            </a:pPr>
            <a:r>
              <a:rPr lang="pt-PT" sz="2000" dirty="0" smtClean="0"/>
              <a:t>  ATÉ </a:t>
            </a:r>
            <a:r>
              <a:rPr lang="pt-PT" sz="2000" dirty="0" smtClean="0"/>
              <a:t>(n1&gt;=-999 e n1&lt;=999)</a:t>
            </a:r>
            <a:endParaRPr lang="pt-PT" sz="2000" dirty="0"/>
          </a:p>
          <a:p>
            <a:pPr marL="0" indent="0">
              <a:buNone/>
            </a:pPr>
            <a:r>
              <a:rPr lang="pt-PT" sz="2000" dirty="0" smtClean="0"/>
              <a:t> FAZER  </a:t>
            </a:r>
          </a:p>
          <a:p>
            <a:pPr marL="0" indent="0">
              <a:buNone/>
            </a:pPr>
            <a:r>
              <a:rPr lang="pt-PT" sz="2000" dirty="0" smtClean="0"/>
              <a:t>       ESCREVER “Denominador da primeira fração ?”	      </a:t>
            </a:r>
          </a:p>
          <a:p>
            <a:pPr marL="0" indent="0">
              <a:buNone/>
            </a:pPr>
            <a:r>
              <a:rPr lang="pt-PT" sz="2000" dirty="0" smtClean="0"/>
              <a:t>        </a:t>
            </a:r>
            <a:r>
              <a:rPr lang="pt-PT" sz="2000" dirty="0" smtClean="0">
                <a:solidFill>
                  <a:srgbClr val="00B050"/>
                </a:solidFill>
              </a:rPr>
              <a:t>LER </a:t>
            </a:r>
            <a:r>
              <a:rPr lang="pt-PT" sz="2000" dirty="0" smtClean="0">
                <a:solidFill>
                  <a:srgbClr val="FF0000"/>
                </a:solidFill>
              </a:rPr>
              <a:t>d1</a:t>
            </a:r>
          </a:p>
          <a:p>
            <a:pPr marL="0" indent="0">
              <a:buNone/>
            </a:pPr>
            <a:r>
              <a:rPr lang="pt-PT" sz="2000" dirty="0" smtClean="0">
                <a:solidFill>
                  <a:srgbClr val="FF0000"/>
                </a:solidFill>
              </a:rPr>
              <a:t>         SE </a:t>
            </a:r>
            <a:r>
              <a:rPr lang="pt-PT" sz="2000" dirty="0">
                <a:solidFill>
                  <a:srgbClr val="FF0000"/>
                </a:solidFill>
              </a:rPr>
              <a:t>	</a:t>
            </a:r>
            <a:r>
              <a:rPr lang="pt-PT" sz="2000" dirty="0" smtClean="0">
                <a:solidFill>
                  <a:srgbClr val="FF0000"/>
                </a:solidFill>
              </a:rPr>
              <a:t> d1 =</a:t>
            </a:r>
            <a:r>
              <a:rPr lang="pt-PT" sz="2000" dirty="0" smtClean="0"/>
              <a:t> 0 ENTÃO  </a:t>
            </a:r>
          </a:p>
          <a:p>
            <a:pPr marL="0" indent="0">
              <a:buNone/>
            </a:pPr>
            <a:r>
              <a:rPr lang="pt-PT" sz="2000" dirty="0" smtClean="0"/>
              <a:t>               ESCREVER “O d</a:t>
            </a:r>
            <a:r>
              <a:rPr lang="pt-PT" sz="2000" dirty="0" smtClean="0"/>
              <a:t>enominador ser diferente de ZERO!”</a:t>
            </a:r>
          </a:p>
          <a:p>
            <a:pPr marL="0" indent="0">
              <a:buNone/>
            </a:pPr>
            <a:r>
              <a:rPr lang="pt-PT" sz="2000" dirty="0" smtClean="0">
                <a:solidFill>
                  <a:srgbClr val="FF0000"/>
                </a:solidFill>
              </a:rPr>
              <a:t>         FIMSE</a:t>
            </a:r>
          </a:p>
          <a:p>
            <a:pPr marL="0" indent="0">
              <a:buNone/>
            </a:pPr>
            <a:r>
              <a:rPr lang="pt-PT" sz="2000" dirty="0" smtClean="0"/>
              <a:t>  ATÉ (</a:t>
            </a:r>
            <a:r>
              <a:rPr lang="pt-PT" sz="2000" dirty="0" smtClean="0">
                <a:solidFill>
                  <a:srgbClr val="FF0000"/>
                </a:solidFill>
              </a:rPr>
              <a:t>d1 </a:t>
            </a:r>
            <a:r>
              <a:rPr lang="pt-PT" sz="2000" dirty="0" smtClean="0"/>
              <a:t>≠ 0) E d1&gt;=-999 e d1&lt;=999)</a:t>
            </a:r>
          </a:p>
          <a:p>
            <a:pPr marL="0" indent="0">
              <a:buNone/>
            </a:pPr>
            <a:endParaRPr lang="pt-PT" sz="2000" dirty="0" smtClean="0"/>
          </a:p>
          <a:p>
            <a:pPr marL="0" indent="0">
              <a:buNone/>
            </a:pPr>
            <a:r>
              <a:rPr lang="pt-PT" sz="2000" dirty="0" smtClean="0"/>
              <a:t> LER n2, d2</a:t>
            </a:r>
          </a:p>
          <a:p>
            <a:pPr marL="0" indent="0">
              <a:buNone/>
            </a:pPr>
            <a:r>
              <a:rPr lang="pt-PT" sz="2000" dirty="0" smtClean="0">
                <a:solidFill>
                  <a:srgbClr val="00B050"/>
                </a:solidFill>
              </a:rPr>
              <a:t>n = n1 x n2</a:t>
            </a:r>
          </a:p>
          <a:p>
            <a:pPr marL="0" indent="0">
              <a:buNone/>
            </a:pPr>
            <a:r>
              <a:rPr lang="pt-PT" sz="2000" dirty="0" smtClean="0">
                <a:solidFill>
                  <a:srgbClr val="00B050"/>
                </a:solidFill>
              </a:rPr>
              <a:t>d = d1 x d2</a:t>
            </a:r>
          </a:p>
          <a:p>
            <a:pPr marL="0" indent="0">
              <a:buNone/>
            </a:pPr>
            <a:r>
              <a:rPr lang="pt-PT" sz="2000" dirty="0" smtClean="0"/>
              <a:t>ESCREVER “</a:t>
            </a:r>
            <a:r>
              <a:rPr lang="pt-PT" sz="2000" dirty="0" smtClean="0"/>
              <a:t>numerador do produto das frações: </a:t>
            </a:r>
            <a:r>
              <a:rPr lang="pt-PT" sz="2000" dirty="0" smtClean="0"/>
              <a:t>”, n</a:t>
            </a:r>
          </a:p>
          <a:p>
            <a:pPr marL="0" indent="0">
              <a:buNone/>
            </a:pPr>
            <a:r>
              <a:rPr lang="pt-PT" sz="2000" dirty="0" smtClean="0"/>
              <a:t>ESCREVER “</a:t>
            </a:r>
            <a:r>
              <a:rPr lang="pt-PT" sz="2000" dirty="0" smtClean="0"/>
              <a:t>denominador do produto das frações: </a:t>
            </a:r>
            <a:r>
              <a:rPr lang="pt-PT" sz="2000" dirty="0" smtClean="0"/>
              <a:t>”, d</a:t>
            </a:r>
          </a:p>
          <a:p>
            <a:pPr marL="0" indent="0">
              <a:buNone/>
            </a:pPr>
            <a:r>
              <a:rPr lang="pt-PT" sz="2000" dirty="0" smtClean="0">
                <a:solidFill>
                  <a:srgbClr val="0070C0"/>
                </a:solidFill>
              </a:rPr>
              <a:t>SE d &lt;&gt; 1 </a:t>
            </a:r>
            <a:r>
              <a:rPr lang="pt-PT" sz="2000" dirty="0" smtClean="0">
                <a:solidFill>
                  <a:srgbClr val="0070C0"/>
                </a:solidFill>
              </a:rPr>
              <a:t>ENTÃO</a:t>
            </a:r>
            <a:endParaRPr lang="pt-PT" sz="2000" dirty="0" smtClean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pt-PT" sz="1600" dirty="0" smtClean="0">
                <a:solidFill>
                  <a:srgbClr val="FF0000"/>
                </a:solidFill>
              </a:rPr>
              <a:t>ESCREVER “  “, n</a:t>
            </a:r>
          </a:p>
          <a:p>
            <a:pPr marL="457200" lvl="1" indent="0">
              <a:buNone/>
            </a:pPr>
            <a:r>
              <a:rPr lang="pt-PT" sz="1600" dirty="0" smtClean="0">
                <a:solidFill>
                  <a:srgbClr val="FF0000"/>
                </a:solidFill>
              </a:rPr>
              <a:t>ESCREVER “--------”</a:t>
            </a:r>
          </a:p>
          <a:p>
            <a:pPr marL="457200" lvl="1" indent="0">
              <a:buNone/>
            </a:pPr>
            <a:r>
              <a:rPr lang="pt-PT" sz="1600" dirty="0" smtClean="0">
                <a:solidFill>
                  <a:srgbClr val="FF0000"/>
                </a:solidFill>
              </a:rPr>
              <a:t>ESCREVER “  ”, d</a:t>
            </a:r>
          </a:p>
          <a:p>
            <a:pPr marL="0" indent="0">
              <a:buNone/>
            </a:pPr>
            <a:r>
              <a:rPr lang="pt-PT" sz="2000" dirty="0" smtClean="0">
                <a:solidFill>
                  <a:srgbClr val="0070C0"/>
                </a:solidFill>
              </a:rPr>
              <a:t>SENÃO</a:t>
            </a:r>
          </a:p>
          <a:p>
            <a:pPr marL="0" indent="0">
              <a:buNone/>
            </a:pPr>
            <a:r>
              <a:rPr lang="pt-PT" sz="2000" dirty="0">
                <a:solidFill>
                  <a:srgbClr val="FF0000"/>
                </a:solidFill>
              </a:rPr>
              <a:t> </a:t>
            </a:r>
            <a:r>
              <a:rPr lang="pt-PT" sz="2000" dirty="0" smtClean="0">
                <a:solidFill>
                  <a:srgbClr val="FF0000"/>
                </a:solidFill>
              </a:rPr>
              <a:t>  </a:t>
            </a:r>
            <a:r>
              <a:rPr lang="pt-PT" sz="2000" dirty="0" smtClean="0">
                <a:solidFill>
                  <a:srgbClr val="FF0000"/>
                </a:solidFill>
              </a:rPr>
              <a:t>ESCREVER n</a:t>
            </a:r>
          </a:p>
          <a:p>
            <a:pPr marL="0" indent="0">
              <a:buNone/>
            </a:pPr>
            <a:r>
              <a:rPr lang="pt-PT" sz="2000" dirty="0" smtClean="0">
                <a:solidFill>
                  <a:srgbClr val="0070C0"/>
                </a:solidFill>
              </a:rPr>
              <a:t>FIMSE</a:t>
            </a:r>
            <a:r>
              <a:rPr lang="pt-PT" sz="2000" dirty="0" smtClean="0"/>
              <a:t>	</a:t>
            </a:r>
          </a:p>
          <a:p>
            <a:pPr marL="0" indent="0">
              <a:buNone/>
            </a:pPr>
            <a:r>
              <a:rPr lang="pt-PT" sz="2000" dirty="0" smtClean="0"/>
              <a:t>Fim.</a:t>
            </a:r>
          </a:p>
          <a:p>
            <a:pPr marL="0" indent="0">
              <a:buNone/>
            </a:pPr>
            <a:endParaRPr lang="pt-PT" sz="2000" dirty="0" smtClean="0"/>
          </a:p>
          <a:p>
            <a:pPr marL="0" indent="0">
              <a:buNone/>
            </a:pPr>
            <a:endParaRPr lang="pt-PT" sz="2000" dirty="0" smtClean="0"/>
          </a:p>
          <a:p>
            <a:endParaRPr lang="pt-PT" dirty="0" smtClean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0273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Traçagem</a:t>
            </a:r>
            <a:r>
              <a:rPr lang="pt-PT" dirty="0" smtClean="0"/>
              <a:t> caso I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143" y="2292643"/>
            <a:ext cx="5693715" cy="2271737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04571" y="6255657"/>
            <a:ext cx="620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smtClean="0"/>
              <a:t>O resultado é igual. Logo o algoritmo para este caso está correto.</a:t>
            </a:r>
            <a:endParaRPr lang="pt-PT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5832882" cy="354372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454400" y="4731657"/>
            <a:ext cx="638629" cy="7402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Oval 11"/>
          <p:cNvSpPr/>
          <p:nvPr/>
        </p:nvSpPr>
        <p:spPr>
          <a:xfrm>
            <a:off x="10305143" y="3578665"/>
            <a:ext cx="696686" cy="11529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4" name="Conexão reta unidirecional 13"/>
          <p:cNvCxnSpPr>
            <a:endCxn id="9" idx="5"/>
          </p:cNvCxnSpPr>
          <p:nvPr/>
        </p:nvCxnSpPr>
        <p:spPr>
          <a:xfrm flipV="1">
            <a:off x="3759200" y="5363482"/>
            <a:ext cx="240304" cy="892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unidirecional 15"/>
          <p:cNvCxnSpPr/>
          <p:nvPr/>
        </p:nvCxnSpPr>
        <p:spPr>
          <a:xfrm flipV="1">
            <a:off x="3926115" y="4579712"/>
            <a:ext cx="6499180" cy="1675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53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245</Words>
  <Application>Microsoft Office PowerPoint</Application>
  <PresentationFormat>Ecrã Panorâmico</PresentationFormat>
  <Paragraphs>117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Tema do Office</vt:lpstr>
      <vt:lpstr>Paulo Nunes,  </vt:lpstr>
      <vt:lpstr>Sumário</vt:lpstr>
      <vt:lpstr>Enunciado</vt:lpstr>
      <vt:lpstr>Definição do problema</vt:lpstr>
      <vt:lpstr>Modelo</vt:lpstr>
      <vt:lpstr>Caso I</vt:lpstr>
      <vt:lpstr>Caso II</vt:lpstr>
      <vt:lpstr>Caso III</vt:lpstr>
      <vt:lpstr>Esboço</vt:lpstr>
      <vt:lpstr>Algoritmo</vt:lpstr>
      <vt:lpstr>Traçagem caso 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Paulo Nunes,</dc:title>
  <dc:creator>Paulo Jorge Costa Nunes</dc:creator>
  <cp:lastModifiedBy>Paulo Jorge Costa Nunes</cp:lastModifiedBy>
  <cp:revision>10</cp:revision>
  <dcterms:created xsi:type="dcterms:W3CDTF">2016-10-10T14:22:13Z</dcterms:created>
  <dcterms:modified xsi:type="dcterms:W3CDTF">2016-10-10T16:06:16Z</dcterms:modified>
</cp:coreProperties>
</file>